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Bosch Production Line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Deliverables: Predictive Quality, Process Intelligence, Copilot, and Executive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Build a reusable manufacturing analytics reference architecture.</a:t>
            </a:r>
          </a:p>
          <a:p>
            <a:pPr>
              <a:defRPr sz="1800"/>
            </a:pPr>
            <a:r>
              <a:t>Predict product failure risk from raw numeric, categorical, and date data.</a:t>
            </a:r>
          </a:p>
          <a:p>
            <a:pPr>
              <a:defRPr sz="1800"/>
            </a:pPr>
            <a:r>
              <a:t>Explain risk through SHAP, station evidence, process bottlenecks, and graph analytics.</a:t>
            </a:r>
          </a:p>
          <a:p>
            <a:pPr>
              <a:defRPr sz="1800"/>
            </a:pPr>
            <a:r>
              <a:t>Deliver usable interfaces: Manufacturing Copilot and Executive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Data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Labeled train products: 1,183,747; failures: 6,879.</a:t>
            </a:r>
          </a:p>
          <a:p>
            <a:pPr>
              <a:defRPr sz="1800"/>
            </a:pPr>
            <a:r>
              <a:t>Historical failure rate: 0.581%.</a:t>
            </a:r>
          </a:p>
          <a:p>
            <a:pPr>
              <a:defRPr sz="1800"/>
            </a:pPr>
            <a:r>
              <a:t>Test products scored: 1,183,748; predicted alerts: 6,998.</a:t>
            </a:r>
          </a:p>
          <a:p>
            <a:pPr>
              <a:defRPr sz="1800"/>
            </a:pPr>
            <a:r>
              <a:t>Raw Bosch CSVs remain the source. Processed outputs are reproducible phase artifacts.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Production Failure Prediction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2120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Selected model: LightGBM.</a:t>
            </a:r>
          </a:p>
          <a:p>
            <a:pPr>
              <a:defRPr sz="1800"/>
            </a:pPr>
            <a:r>
              <a:t>Validation MCC 0.339; precision 0.574; recall 0.213.</a:t>
            </a:r>
          </a:p>
          <a:p>
            <a:pPr>
              <a:defRPr sz="1800"/>
            </a:pPr>
            <a:r>
              <a:t>Improvement experiments did not beat the Phase 6 LightGBM baseline.</a:t>
            </a:r>
          </a:p>
          <a:p>
            <a:pPr>
              <a:defRPr sz="1800"/>
            </a:pPr>
            <a:r>
              <a:t>Leaderboard leakage model remains research-only and excluded from production deliverables.</a:t>
            </a:r>
          </a:p>
        </p:txBody>
      </p:sp>
      <p:pic>
        <p:nvPicPr>
          <p:cNvPr id="4" name="Picture 3" descr="phase6_improvement_mc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5212080" cy="2533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Product Family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Final segmentation contains 8 product families.</a:t>
            </a:r>
          </a:p>
          <a:p>
            <a:pPr>
              <a:defRPr sz="1800"/>
            </a:pPr>
            <a:r>
              <a:t>Highest-risk family: 4 at 0.737% failure rate.</a:t>
            </a:r>
          </a:p>
          <a:p>
            <a:pPr>
              <a:defRPr sz="1800"/>
            </a:pPr>
            <a:r>
              <a:t>Families are based on station-presence and flow-path structure.</a:t>
            </a:r>
          </a:p>
          <a:p>
            <a:pPr>
              <a:defRPr sz="1800"/>
            </a:pPr>
            <a:r>
              <a:t>Segmentation supports targeted monitoring by route and product mix.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Process Mining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2120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Top bottleneck: L1_S25 with score 88.34.</a:t>
            </a:r>
          </a:p>
          <a:p>
            <a:pPr>
              <a:defRPr sz="1800"/>
            </a:pPr>
            <a:r>
              <a:t>Outputs include process-map edges, station waiting times, bottleneck scores, and critical paths.</a:t>
            </a:r>
          </a:p>
          <a:p>
            <a:pPr>
              <a:defRPr sz="1800"/>
            </a:pPr>
            <a:r>
              <a:t>Throughput efficiency is a relative timestamp proxy, not formal OEE.</a:t>
            </a:r>
          </a:p>
        </p:txBody>
      </p:sp>
      <p:pic>
        <p:nvPicPr>
          <p:cNvPr id="4" name="Picture 3" descr="phase8_bottleneck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5212080" cy="3622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Root Cause Analysis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2120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SHAP identifies timing, line-level, missingness, and station-measurement drivers.</a:t>
            </a:r>
          </a:p>
          <a:p>
            <a:pPr>
              <a:defRPr sz="1800"/>
            </a:pPr>
            <a:r>
              <a:t>Highest observed station risk: L3_S32 at 4.506%.</a:t>
            </a:r>
          </a:p>
          <a:p>
            <a:pPr>
              <a:defRPr sz="1800"/>
            </a:pPr>
            <a:r>
              <a:t>Recommendations are engineering investigation priorities, not causal proof.</a:t>
            </a:r>
          </a:p>
        </p:txBody>
      </p:sp>
      <p:pic>
        <p:nvPicPr>
          <p:cNvPr id="4" name="Picture 3" descr="phase7_top_shap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5212080" cy="41354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Knowledge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2120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Graph size: 4,321 nodes and 4,923 edges.</a:t>
            </a:r>
          </a:p>
          <a:p>
            <a:pPr>
              <a:defRPr sz="1800"/>
            </a:pPr>
            <a:r>
              <a:t>Top critical node: L1_S24.</a:t>
            </a:r>
          </a:p>
          <a:p>
            <a:pPr>
              <a:defRPr sz="1800"/>
            </a:pPr>
            <a:r>
              <a:t>Relationships connect production lines, stations, features, transitions, and failure evidence.</a:t>
            </a:r>
          </a:p>
          <a:p>
            <a:pPr>
              <a:defRPr sz="1800"/>
            </a:pPr>
            <a:r>
              <a:t>Failure propagation routes are monitoring hypotheses.</a:t>
            </a:r>
          </a:p>
        </p:txBody>
      </p:sp>
      <p:pic>
        <p:nvPicPr>
          <p:cNvPr id="4" name="Picture 3" descr="phase9_critical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5212080" cy="37242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Manufacturing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SQLite-backed copilot database contains 1,240,468 prediction rows.</a:t>
            </a:r>
          </a:p>
          <a:p>
            <a:pPr>
              <a:defRPr sz="1800"/>
            </a:pPr>
            <a:r>
              <a:t>Streamlit app supports risk review, root-cause Q&amp;A, bottlenecks, graph insights, and summaries.</a:t>
            </a:r>
          </a:p>
          <a:p>
            <a:pPr>
              <a:defRPr sz="1800"/>
            </a:pPr>
            <a:r>
              <a:t>Natural-language answers use deterministic reviewed intents and parameterized SQL.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Dashboard includes KPI scorecard, relative failure trends, station heatmaps, bottlenecks, SHAP drivers, and business impact.</a:t>
            </a:r>
          </a:p>
          <a:p>
            <a:pPr>
              <a:defRPr sz="1800"/>
            </a:pPr>
            <a:r>
              <a:t>Business impact is assumption-driven and explicitly labeled as a scenario.</a:t>
            </a:r>
          </a:p>
          <a:p>
            <a:pPr>
              <a:defRPr sz="1800"/>
            </a:pPr>
            <a:r>
              <a:t>Dashboard is suitable for demos and future client adaptation after data-source replacement.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Deployment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Current system is a validated use-case prototype on Kaggle Bosch data.</a:t>
            </a:r>
          </a:p>
          <a:p>
            <a:pPr>
              <a:defRPr sz="1800"/>
            </a:pPr>
            <a:r>
              <a:t>Future production use requires live plant data contracts, forward-time validation, access control, and monitoring.</a:t>
            </a:r>
          </a:p>
          <a:p>
            <a:pPr>
              <a:defRPr sz="1800"/>
            </a:pPr>
            <a:r>
              <a:t>Model alerts should prioritize engineering review, not automate quality disposition without governance.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Final Deliverable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68 Model: models/phase6_best_model.joblib</a:t>
            </a:r>
          </a:p>
          <a:p>
            <a:pPr>
              <a:defRPr sz="1800"/>
            </a:pPr>
            <a:r>
              <a:t>69 Segmentation: src/data/phase5_product_family_discovery.py</a:t>
            </a:r>
          </a:p>
          <a:p>
            <a:pPr>
              <a:defRPr sz="1800"/>
            </a:pPr>
            <a:r>
              <a:t>70 Process mining: src/data/phase8_process_mining_bottleneck_analysis.py</a:t>
            </a:r>
          </a:p>
          <a:p>
            <a:pPr>
              <a:defRPr sz="1800"/>
            </a:pPr>
            <a:r>
              <a:t>71 Root cause: src/data/phase7_root_cause_analysis.py</a:t>
            </a:r>
          </a:p>
          <a:p>
            <a:pPr>
              <a:defRPr sz="1800"/>
            </a:pPr>
            <a:r>
              <a:t>72 Knowledge graph: reports/phase9_manufacturing_knowledge_graph.graphml</a:t>
            </a:r>
          </a:p>
          <a:p>
            <a:pPr>
              <a:defRPr sz="1800"/>
            </a:pPr>
            <a:r>
              <a:t>73 Copilot: app/phase11_manufacturing_copilot.py</a:t>
            </a:r>
          </a:p>
          <a:p>
            <a:pPr>
              <a:defRPr sz="1800"/>
            </a:pPr>
            <a:r>
              <a:t>74 Dashboard: app/phase12_executive_dashboard.py</a:t>
            </a:r>
          </a:p>
          <a:p>
            <a:pPr>
              <a:defRPr sz="1800"/>
            </a:pPr>
            <a:r>
              <a:t>75 Documentation and presentation: docs/final_deliverables/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